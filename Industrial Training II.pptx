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 name="Google Shape;84;p13"/>
          <p:cNvSpPr txBox="1">
            <a:spLocks noGrp="1"/>
          </p:cNvSpPr>
          <p:nvPr>
            <p:ph type="title" idx="4294967295"/>
          </p:nvPr>
        </p:nvSpPr>
        <p:spPr>
          <a:xfrm>
            <a:off x="838200" y="124460"/>
            <a:ext cx="10515600" cy="846362"/>
          </a:xfrm>
          <a:prstGeom prst="rect">
            <a:avLst/>
          </a:prstGeom>
          <a:noFill/>
          <a:ln>
            <a:noFill/>
          </a:ln>
        </p:spPr>
        <p:txBody>
          <a:bodyPr spcFirstLastPara="1" wrap="square" lIns="91425" tIns="45700" rIns="91425" bIns="45700" anchor="b" anchorCtr="0">
            <a:normAutofit/>
          </a:bodyPr>
          <a:p>
            <a:pPr marL="0" marR="0" lvl="0" indent="0" algn="ctr" rtl="0">
              <a:lnSpc>
                <a:spcPct val="90000"/>
              </a:lnSpc>
              <a:spcBef>
                <a:spcPts val="0"/>
              </a:spcBef>
              <a:spcAft>
                <a:spcPts val="0"/>
              </a:spcAft>
              <a:buClr>
                <a:schemeClr val="dk1"/>
              </a:buClr>
              <a:buSzPts val="2200"/>
              <a:buFont typeface="Times New Roman" panose="02020603050405020304"/>
              <a:buNone/>
            </a:pPr>
            <a:r>
              <a:rPr 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Industrial Training II</a:t>
            </a:r>
            <a:br>
              <a:rPr 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2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Amazon Sentiment Analysis</a:t>
            </a:r>
            <a:endParaRPr lang="en-US" sz="22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5" name="Google Shape;85;p13"/>
          <p:cNvPicPr preferRelativeResize="0">
            <a:picLocks noGrp="1"/>
          </p:cNvPicPr>
          <p:nvPr/>
        </p:nvPicPr>
        <p:blipFill rotWithShape="1">
          <a:blip r:embed="rId1"/>
          <a:srcRect/>
          <a:stretch>
            <a:fillRect/>
          </a:stretch>
        </p:blipFill>
        <p:spPr>
          <a:xfrm>
            <a:off x="4511040" y="1205865"/>
            <a:ext cx="2956560" cy="1743075"/>
          </a:xfrm>
          <a:prstGeom prst="rect">
            <a:avLst/>
          </a:prstGeom>
          <a:noFill/>
          <a:ln>
            <a:noFill/>
          </a:ln>
        </p:spPr>
      </p:pic>
      <p:sp>
        <p:nvSpPr>
          <p:cNvPr id="86" name="Google Shape;86;p13"/>
          <p:cNvSpPr txBox="1">
            <a:spLocks noGrp="1"/>
          </p:cNvSpPr>
          <p:nvPr/>
        </p:nvSpPr>
        <p:spPr>
          <a:xfrm>
            <a:off x="911225" y="3183255"/>
            <a:ext cx="10513060" cy="3495675"/>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marR="0" lvl="0" indent="0" algn="ctr" rtl="0">
              <a:lnSpc>
                <a:spcPct val="90000"/>
              </a:lnSpc>
              <a:spcBef>
                <a:spcPts val="0"/>
              </a:spcBef>
              <a:spcAft>
                <a:spcPts val="0"/>
              </a:spcAft>
              <a:buClr>
                <a:schemeClr val="dk1"/>
              </a:buClr>
              <a:buSzPts val="1600"/>
              <a:buFont typeface="Arial" panose="020B0604020202020204"/>
              <a:buNone/>
            </a:pPr>
            <a:r>
              <a:rPr lang="en-US"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By</a:t>
            </a:r>
            <a:endParaRPr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Jyotirmoy Das(202200016)</a:t>
            </a:r>
            <a:endParaRPr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 partial fulfillment of requirements for the award of degree in </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Bachelor of Technology in Computer Science and Engineering (Computer Science and Engineering)</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(2025)</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Computer Science and Engineering</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Sikkim Manipal Institute of Technology</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 constituent college of Sikkim Manipal University)</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Majitar, Rangpo, East Sikkim – 737136</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custDataLst>
              <p:tags r:id="rId1"/>
            </p:custDataLst>
          </p:nvPr>
        </p:nvGraphicFramePr>
        <p:xfrm>
          <a:off x="213360" y="247650"/>
          <a:ext cx="11719560" cy="6320790"/>
        </p:xfrm>
        <a:graphic>
          <a:graphicData uri="http://schemas.openxmlformats.org/drawingml/2006/table">
            <a:tbl>
              <a:tblPr firstRow="1" bandRow="1">
                <a:tableStyleId>{5C22544A-7EE6-4342-B048-85BDC9FD1C3A}</a:tableStyleId>
              </a:tblPr>
              <a:tblGrid>
                <a:gridCol w="3906520"/>
                <a:gridCol w="3906520"/>
                <a:gridCol w="3906520"/>
              </a:tblGrid>
              <a:tr h="902970">
                <a:tc>
                  <a:txBody>
                    <a:bodyPr/>
                    <a:p>
                      <a:pPr algn="ctr">
                        <a:buNone/>
                      </a:pPr>
                      <a:r>
                        <a:rPr lang="en-US"/>
                        <a:t>S No.</a:t>
                      </a:r>
                      <a:endParaRPr lang="en-US"/>
                    </a:p>
                  </a:txBody>
                  <a:tcPr anchor="ctr" anchorCtr="0"/>
                </a:tc>
                <a:tc>
                  <a:txBody>
                    <a:bodyPr/>
                    <a:p>
                      <a:pPr algn="ctr">
                        <a:buNone/>
                      </a:pPr>
                      <a:r>
                        <a:rPr lang="en-US"/>
                        <a:t>Content</a:t>
                      </a:r>
                      <a:endParaRPr lang="en-US"/>
                    </a:p>
                  </a:txBody>
                  <a:tcPr anchor="ctr" anchorCtr="0"/>
                </a:tc>
                <a:tc>
                  <a:txBody>
                    <a:bodyPr/>
                    <a:p>
                      <a:pPr algn="ctr">
                        <a:buNone/>
                      </a:pPr>
                      <a:r>
                        <a:rPr lang="en-US"/>
                        <a:t>Page No.</a:t>
                      </a:r>
                      <a:endParaRPr lang="en-US"/>
                    </a:p>
                  </a:txBody>
                  <a:tcPr anchor="ctr" anchorCtr="0"/>
                </a:tc>
              </a:tr>
              <a:tr h="902970">
                <a:tc>
                  <a:txBody>
                    <a:bodyPr/>
                    <a:p>
                      <a:pPr algn="ctr">
                        <a:buNone/>
                      </a:pPr>
                      <a:r>
                        <a:rPr lang="en-US"/>
                        <a:t>1</a:t>
                      </a:r>
                      <a:endParaRPr lang="en-US"/>
                    </a:p>
                  </a:txBody>
                  <a:tcPr anchor="ctr" anchorCtr="0"/>
                </a:tc>
                <a:tc>
                  <a:txBody>
                    <a:bodyPr/>
                    <a:p>
                      <a:pPr algn="ctr">
                        <a:buNone/>
                      </a:pPr>
                      <a:r>
                        <a:rPr lang="en-US"/>
                        <a:t>Abstract</a:t>
                      </a:r>
                      <a:endParaRPr lang="en-US"/>
                    </a:p>
                  </a:txBody>
                  <a:tcPr anchor="ctr" anchorCtr="0"/>
                </a:tc>
                <a:tc>
                  <a:txBody>
                    <a:bodyPr/>
                    <a:p>
                      <a:pPr algn="ctr">
                        <a:buNone/>
                      </a:pPr>
                      <a:r>
                        <a:rPr lang="en-US"/>
                        <a:t>2</a:t>
                      </a:r>
                      <a:endParaRPr lang="en-US"/>
                    </a:p>
                  </a:txBody>
                  <a:tcPr anchor="ctr" anchorCtr="0"/>
                </a:tc>
              </a:tr>
              <a:tr h="902970">
                <a:tc>
                  <a:txBody>
                    <a:bodyPr/>
                    <a:p>
                      <a:pPr algn="ctr">
                        <a:buNone/>
                      </a:pPr>
                      <a:r>
                        <a:rPr lang="en-US"/>
                        <a:t>2</a:t>
                      </a:r>
                      <a:endParaRPr lang="en-US"/>
                    </a:p>
                  </a:txBody>
                  <a:tcPr anchor="ctr" anchorCtr="0"/>
                </a:tc>
                <a:tc>
                  <a:txBody>
                    <a:bodyPr/>
                    <a:p>
                      <a:pPr algn="ctr">
                        <a:buNone/>
                      </a:pPr>
                      <a:r>
                        <a:rPr lang="en-US"/>
                        <a:t>Introduction</a:t>
                      </a:r>
                      <a:endParaRPr lang="en-US"/>
                    </a:p>
                  </a:txBody>
                  <a:tcPr anchor="ctr" anchorCtr="0"/>
                </a:tc>
                <a:tc>
                  <a:txBody>
                    <a:bodyPr/>
                    <a:p>
                      <a:pPr algn="ctr">
                        <a:buNone/>
                      </a:pPr>
                      <a:r>
                        <a:rPr lang="en-US"/>
                        <a:t>3</a:t>
                      </a:r>
                      <a:endParaRPr lang="en-US"/>
                    </a:p>
                  </a:txBody>
                  <a:tcPr anchor="ctr" anchorCtr="0"/>
                </a:tc>
              </a:tr>
              <a:tr h="902970">
                <a:tc>
                  <a:txBody>
                    <a:bodyPr/>
                    <a:p>
                      <a:pPr algn="ctr">
                        <a:buNone/>
                      </a:pPr>
                      <a:r>
                        <a:rPr lang="en-US"/>
                        <a:t>3</a:t>
                      </a:r>
                      <a:endParaRPr lang="en-US"/>
                    </a:p>
                  </a:txBody>
                  <a:tcPr anchor="ctr" anchorCtr="0"/>
                </a:tc>
                <a:tc>
                  <a:txBody>
                    <a:bodyPr/>
                    <a:p>
                      <a:pPr algn="ctr">
                        <a:buNone/>
                      </a:pPr>
                      <a:r>
                        <a:rPr lang="en-US"/>
                        <a:t>Design and Methodology</a:t>
                      </a:r>
                      <a:endParaRPr lang="en-US"/>
                    </a:p>
                  </a:txBody>
                  <a:tcPr anchor="ctr" anchorCtr="0"/>
                </a:tc>
                <a:tc>
                  <a:txBody>
                    <a:bodyPr/>
                    <a:p>
                      <a:pPr algn="ctr">
                        <a:buNone/>
                      </a:pPr>
                      <a:r>
                        <a:rPr lang="en-US"/>
                        <a:t>4-6</a:t>
                      </a:r>
                      <a:endParaRPr lang="en-US"/>
                    </a:p>
                  </a:txBody>
                  <a:tcPr anchor="ctr" anchorCtr="0"/>
                </a:tc>
              </a:tr>
              <a:tr h="902970">
                <a:tc>
                  <a:txBody>
                    <a:bodyPr/>
                    <a:p>
                      <a:pPr algn="ctr">
                        <a:buNone/>
                      </a:pPr>
                      <a:r>
                        <a:rPr lang="en-US"/>
                        <a:t>4</a:t>
                      </a:r>
                      <a:endParaRPr lang="en-US"/>
                    </a:p>
                  </a:txBody>
                  <a:tcPr anchor="ctr" anchorCtr="0"/>
                </a:tc>
                <a:tc>
                  <a:txBody>
                    <a:bodyPr/>
                    <a:p>
                      <a:pPr algn="ctr">
                        <a:buNone/>
                      </a:pPr>
                      <a:r>
                        <a:rPr lang="en-US"/>
                        <a:t>Result</a:t>
                      </a:r>
                      <a:endParaRPr lang="en-US"/>
                    </a:p>
                  </a:txBody>
                  <a:tcPr anchor="ctr" anchorCtr="0"/>
                </a:tc>
                <a:tc>
                  <a:txBody>
                    <a:bodyPr/>
                    <a:p>
                      <a:pPr algn="ctr">
                        <a:buNone/>
                      </a:pPr>
                      <a:r>
                        <a:rPr lang="en-US"/>
                        <a:t>7-9</a:t>
                      </a:r>
                      <a:endParaRPr lang="en-US"/>
                    </a:p>
                  </a:txBody>
                  <a:tcPr anchor="ctr" anchorCtr="0"/>
                </a:tc>
              </a:tr>
              <a:tr h="902970">
                <a:tc>
                  <a:txBody>
                    <a:bodyPr/>
                    <a:p>
                      <a:pPr algn="ctr">
                        <a:buNone/>
                      </a:pPr>
                      <a:r>
                        <a:rPr lang="en-US"/>
                        <a:t>5</a:t>
                      </a:r>
                      <a:endParaRPr lang="en-US"/>
                    </a:p>
                  </a:txBody>
                  <a:tcPr anchor="ctr" anchorCtr="0"/>
                </a:tc>
                <a:tc>
                  <a:txBody>
                    <a:bodyPr/>
                    <a:p>
                      <a:pPr algn="ctr">
                        <a:buNone/>
                      </a:pPr>
                      <a:r>
                        <a:rPr lang="en-US"/>
                        <a:t>Conclusion</a:t>
                      </a:r>
                      <a:endParaRPr lang="en-US"/>
                    </a:p>
                  </a:txBody>
                  <a:tcPr anchor="ctr" anchorCtr="0"/>
                </a:tc>
                <a:tc>
                  <a:txBody>
                    <a:bodyPr/>
                    <a:p>
                      <a:pPr algn="ctr">
                        <a:buNone/>
                      </a:pPr>
                      <a:r>
                        <a:rPr lang="en-US"/>
                        <a:t>10</a:t>
                      </a:r>
                      <a:endParaRPr lang="en-US"/>
                    </a:p>
                  </a:txBody>
                  <a:tcPr anchor="ctr" anchorCtr="0"/>
                </a:tc>
              </a:tr>
              <a:tr h="902970">
                <a:tc>
                  <a:txBody>
                    <a:bodyPr/>
                    <a:p>
                      <a:pPr algn="ctr">
                        <a:buNone/>
                      </a:pPr>
                      <a:r>
                        <a:rPr lang="en-US"/>
                        <a:t>6</a:t>
                      </a:r>
                      <a:endParaRPr lang="en-US"/>
                    </a:p>
                  </a:txBody>
                  <a:tcPr anchor="ctr" anchorCtr="0"/>
                </a:tc>
                <a:tc>
                  <a:txBody>
                    <a:bodyPr/>
                    <a:p>
                      <a:pPr algn="ctr">
                        <a:buNone/>
                      </a:pPr>
                      <a:r>
                        <a:rPr lang="en-US"/>
                        <a:t>References</a:t>
                      </a:r>
                      <a:endParaRPr lang="en-US"/>
                    </a:p>
                  </a:txBody>
                  <a:tcPr anchor="ctr" anchorCtr="0"/>
                </a:tc>
                <a:tc>
                  <a:txBody>
                    <a:bodyPr/>
                    <a:p>
                      <a:pPr algn="ctr">
                        <a:buNone/>
                      </a:pPr>
                      <a:r>
                        <a:rPr lang="en-US"/>
                        <a:t>11</a:t>
                      </a:r>
                      <a:endParaRPr lang="en-US"/>
                    </a:p>
                  </a:txBody>
                  <a:tcPr anchor="ctr" anchorCtr="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Abstract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825625"/>
            <a:ext cx="10515600" cy="4006850"/>
          </a:xfrm>
        </p:spPr>
        <p:txBody>
          <a:bodyPr>
            <a:normAutofit lnSpcReduction="10000"/>
          </a:bodyPr>
          <a:p>
            <a:pPr marL="0" indent="0">
              <a:buNone/>
            </a:pPr>
            <a:r>
              <a:rPr lang="en-US" altLang="en-US">
                <a:latin typeface="Times New Roman" panose="02020603050405020304" charset="0"/>
                <a:cs typeface="Times New Roman" panose="02020603050405020304" charset="0"/>
              </a:rPr>
              <a:t>This project presents a sentiment analysis system for Amazon product reviews using Natural Language Processing (NLP) and Machine Learning techniques. The aim is to classify customer reviews into positive, neutral, or negative sentiments based on their star ratings. The methodology involves preprocessing review text, feature extraction using TF-IDF, and training a Logistic Regression classifier. The model achieves high accuracy in sentiment classification and provides insights into customer satisfaction trends. This project demonstrates the potential of sentiment analysis in improving business decision-making and customer engagement.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Introduction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buNone/>
            </a:pPr>
            <a:r>
              <a:rPr lang="en-US" altLang="en-US">
                <a:latin typeface="Times New Roman" panose="02020603050405020304" charset="0"/>
                <a:cs typeface="Times New Roman" panose="02020603050405020304" charset="0"/>
              </a:rPr>
              <a:t>Nowadays, online reviews show what customers think about products and help businesses improve. Sentiment analysis uses Natural Language Processing (NLP) and Machine Learning to automatically classify reviews as positive, negative, or neutral. This project uses these methods to analyze Amazon product reviews and build a model that helps businesses understand customer opinions and make better decisions.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Design and Methodology</a:t>
            </a:r>
            <a:endParaRPr lang="en-US" b="1">
              <a:latin typeface="Times New Roman" panose="02020603050405020304" charset="0"/>
              <a:cs typeface="Times New Roman" panose="02020603050405020304" charset="0"/>
            </a:endParaRPr>
          </a:p>
        </p:txBody>
      </p:sp>
      <p:pic>
        <p:nvPicPr>
          <p:cNvPr id="6" name="Picture 6" descr="Amazon_Sentiment_Analysis_Flowchart"/>
          <p:cNvPicPr>
            <a:picLocks noChangeAspect="1"/>
          </p:cNvPicPr>
          <p:nvPr>
            <p:ph idx="1"/>
          </p:nvPr>
        </p:nvPicPr>
        <p:blipFill>
          <a:blip r:embed="rId1"/>
          <a:stretch>
            <a:fillRect/>
          </a:stretch>
        </p:blipFill>
        <p:spPr>
          <a:xfrm>
            <a:off x="7351395" y="1825625"/>
            <a:ext cx="4840605" cy="4618990"/>
          </a:xfrm>
          <a:prstGeom prst="rect">
            <a:avLst/>
          </a:prstGeom>
        </p:spPr>
      </p:pic>
      <p:sp>
        <p:nvSpPr>
          <p:cNvPr id="4" name="Text Box 3"/>
          <p:cNvSpPr txBox="1"/>
          <p:nvPr/>
        </p:nvSpPr>
        <p:spPr>
          <a:xfrm>
            <a:off x="838200" y="2131695"/>
            <a:ext cx="7567930" cy="373951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Load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Import the CSV file containing Amazon reviews with columns reviewText and overall (ratings).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Preprocess Text: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Convert all review text to lowercase.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Remove special characters, numbers, and punctuation.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Store the cleaned text in a new column (cleaned_review).</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Convert Ratings to Sentiment Labels: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Map star ratings to sentiment categories: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1–2 → Negative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3 → Neutral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4–5 → Positive</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Design and Methodology</a:t>
            </a:r>
            <a:endParaRPr lang="en-US" b="1">
              <a:latin typeface="Times New Roman" panose="02020603050405020304" charset="0"/>
              <a:cs typeface="Times New Roman" panose="02020603050405020304" charset="0"/>
            </a:endParaRPr>
          </a:p>
        </p:txBody>
      </p:sp>
      <p:pic>
        <p:nvPicPr>
          <p:cNvPr id="6" name="Picture 6" descr="Amazon_Sentiment_Analysis_Flowchart"/>
          <p:cNvPicPr>
            <a:picLocks noChangeAspect="1"/>
          </p:cNvPicPr>
          <p:nvPr>
            <p:ph idx="1"/>
          </p:nvPr>
        </p:nvPicPr>
        <p:blipFill>
          <a:blip r:embed="rId1"/>
          <a:stretch>
            <a:fillRect/>
          </a:stretch>
        </p:blipFill>
        <p:spPr>
          <a:xfrm>
            <a:off x="7631430" y="1825625"/>
            <a:ext cx="4560570" cy="4351655"/>
          </a:xfrm>
          <a:prstGeom prst="rect">
            <a:avLst/>
          </a:prstGeom>
        </p:spPr>
      </p:pic>
      <p:sp>
        <p:nvSpPr>
          <p:cNvPr id="4" name="Text Box 3"/>
          <p:cNvSpPr txBox="1"/>
          <p:nvPr/>
        </p:nvSpPr>
        <p:spPr>
          <a:xfrm>
            <a:off x="838200" y="2131695"/>
            <a:ext cx="7567930" cy="3739515"/>
          </a:xfrm>
          <a:prstGeom prst="rect">
            <a:avLst/>
          </a:prstGeom>
          <a:noFill/>
        </p:spPr>
        <p:txBody>
          <a:bodyPr wrap="square" rtlCol="0">
            <a:noAutofit/>
          </a:bodyPr>
          <a:p>
            <a:r>
              <a:rPr lang="en-US" altLang="en-US">
                <a:latin typeface="Times New Roman" panose="02020603050405020304" charset="0"/>
                <a:cs typeface="Times New Roman" panose="02020603050405020304" charset="0"/>
                <a:sym typeface="+mn-ea"/>
              </a:rPr>
              <a:t>Split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Divide the data into training (80%) and testing (20%) sets.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Feature Extraction: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Apply TF-IDF Vectorization to transform text into numerical features suitable for the model.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Train Model: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Use Logistic Regression to train the model on the training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Evaluate Model: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Test the model on the testing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Calculate accuracy, precision, recall, F1-score, and generate a confusion matrix.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Predict New Reviews: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Preprocess new review text, transform it with TF-IDF, and use the trained model to predict the sentiment.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sym typeface="+mn-ea"/>
              </a:rPr>
              <a:t>Design and Methodology</a:t>
            </a:r>
            <a:endParaRPr lang="en-US"/>
          </a:p>
        </p:txBody>
      </p:sp>
      <p:sp>
        <p:nvSpPr>
          <p:cNvPr id="3" name="Content Placeholder 2"/>
          <p:cNvSpPr>
            <a:spLocks noGrp="1"/>
          </p:cNvSpPr>
          <p:nvPr>
            <p:ph idx="1"/>
          </p:nvPr>
        </p:nvSpPr>
        <p:spPr/>
        <p:txBody>
          <a:bodyPr>
            <a:noAutofit/>
          </a:bodyPr>
          <a:p>
            <a:r>
              <a:rPr lang="en-US" altLang="en-US" sz="1800">
                <a:latin typeface="Times New Roman" panose="02020603050405020304" charset="0"/>
                <a:cs typeface="Times New Roman" panose="02020603050405020304" charset="0"/>
              </a:rPr>
              <a:t>The Amazon Sentiment Analysis project follows several key steps. Data Collection involves gathering Amazon product reviews from a CSV file containing review text and star ratings, ensuring a diverse and representative dataset. Data Preprocessing cleans the text by converting it to lowercase, removing special characters, and handling missing values, storing the processed text in a new column.</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Sentiment Labeling maps star ratings to three categories: negative (1–2 stars), neutral (3 stars), and positive (4–5 stars), making the dataset suitable for supervised learning. Feature Extraction uses TF-IDF to convert text into numerical vectors that reflect the importance of words in each review.</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During Model Training, the data is split into training (80%) and testing (20%) sets, and a Logistic Regression classifier learns patterns between TF-IDF features and sentiment labels. Model Evaluation measures performance using accuracy, classification reports, and a confusion matrix to assess how well the model predicts unseen reviews.</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Finally, Prediction on New Reviews applies the same preprocessing and TF-IDF transformation to new review text, allowing the trained model to classify sentiments automatically, providing actionable insights for businesses and researchers.</a:t>
            </a:r>
            <a:endParaRPr lang="en-US" altLang="en-US" sz="18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Result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07780" y="2419985"/>
            <a:ext cx="1896745" cy="1501140"/>
          </a:xfrm>
        </p:spPr>
        <p:txBody>
          <a:bodyPr>
            <a:normAutofit lnSpcReduction="10000"/>
          </a:bodyPr>
          <a:p>
            <a:pPr marL="0" indent="0">
              <a:buNone/>
            </a:pPr>
            <a:r>
              <a:rPr lang="en-US" altLang="en-US"/>
              <a:t>[[ 25   0  45]</a:t>
            </a:r>
            <a:endParaRPr lang="en-US" altLang="en-US"/>
          </a:p>
          <a:p>
            <a:pPr marL="0" indent="0">
              <a:buNone/>
            </a:pPr>
            <a:r>
              <a:rPr lang="en-US" altLang="en-US"/>
              <a:t>[  1   0  24]</a:t>
            </a:r>
            <a:endParaRPr lang="en-US" altLang="en-US"/>
          </a:p>
          <a:p>
            <a:pPr marL="0" indent="0">
              <a:buNone/>
            </a:pPr>
            <a:r>
              <a:rPr lang="en-US" altLang="en-US"/>
              <a:t>[  2   0 886]]</a:t>
            </a:r>
            <a:endParaRPr lang="en-US" altLang="en-US"/>
          </a:p>
        </p:txBody>
      </p:sp>
      <p:sp>
        <p:nvSpPr>
          <p:cNvPr id="4" name="Text Box 3"/>
          <p:cNvSpPr txBox="1"/>
          <p:nvPr/>
        </p:nvSpPr>
        <p:spPr>
          <a:xfrm>
            <a:off x="838200" y="2110105"/>
            <a:ext cx="7736205" cy="3465830"/>
          </a:xfrm>
          <a:prstGeom prst="rect">
            <a:avLst/>
          </a:prstGeom>
          <a:noFill/>
        </p:spPr>
        <p:txBody>
          <a:bodyPr wrap="square" rtlCol="0">
            <a:noAutofit/>
          </a:bodyPr>
          <a:p>
            <a:r>
              <a:rPr lang="en-US" altLang="en-US" b="1"/>
              <a:t>Confusion Matrix:</a:t>
            </a:r>
            <a:endParaRPr lang="en-US" altLang="en-US" b="1"/>
          </a:p>
          <a:p>
            <a:endParaRPr lang="en-US" altLang="en-US"/>
          </a:p>
          <a:p>
            <a:r>
              <a:rPr lang="en-US" altLang="en-US"/>
              <a:t>The confusion matrix is a table that shows how well the sentiment classification model performed by comparing predicted labels with actual labels. </a:t>
            </a:r>
            <a:endParaRPr lang="en-US" altLang="en-US"/>
          </a:p>
          <a:p>
            <a:endParaRPr lang="en-US" altLang="en-US"/>
          </a:p>
          <a:p>
            <a:r>
              <a:rPr lang="en-US" altLang="en-US"/>
              <a:t>·  Rows represent the actual sentiment classes.</a:t>
            </a:r>
            <a:endParaRPr lang="en-US" altLang="en-US"/>
          </a:p>
          <a:p>
            <a:r>
              <a:rPr lang="en-US" altLang="en-US"/>
              <a:t>·  Columns represent the predicted sentiment classes.</a:t>
            </a:r>
            <a:endParaRPr lang="en-US" altLang="en-US"/>
          </a:p>
          <a:p>
            <a:r>
              <a:rPr lang="en-US" altLang="en-US"/>
              <a:t>Assuming the order of classes is [Negative, Neutral, Positive]</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Result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589395" y="1825625"/>
            <a:ext cx="4923155" cy="3793490"/>
          </a:xfrm>
        </p:spPr>
        <p:txBody>
          <a:bodyPr>
            <a:noAutofit/>
          </a:bodyPr>
          <a:p>
            <a:pPr marL="0" indent="0">
              <a:buNone/>
            </a:pPr>
            <a:r>
              <a:rPr lang="en-US" altLang="en-US" sz="1800">
                <a:latin typeface="Times New Roman" panose="02020603050405020304" charset="0"/>
                <a:cs typeface="Times New Roman" panose="02020603050405020304" charset="0"/>
              </a:rPr>
              <a:t>Classification Report:</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precision    recall  f1-score   support</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negative   0.89      0.36     0.51           70</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neutral    0.00      0.00      0.00           25</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positive    0.93     1.00       0.96        888</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accuracy                             0.93       983</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macro avg   0.61   0.45       0.49        983</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weighted avg  0.90  0.93       0.90         983</a:t>
            </a:r>
            <a:endParaRPr lang="en-US" altLang="en-US" sz="1800">
              <a:latin typeface="Times New Roman" panose="02020603050405020304" charset="0"/>
              <a:cs typeface="Times New Roman" panose="02020603050405020304" charset="0"/>
            </a:endParaRPr>
          </a:p>
        </p:txBody>
      </p:sp>
      <p:sp>
        <p:nvSpPr>
          <p:cNvPr id="4" name="Text Box 3"/>
          <p:cNvSpPr txBox="1"/>
          <p:nvPr/>
        </p:nvSpPr>
        <p:spPr>
          <a:xfrm>
            <a:off x="838200" y="1825625"/>
            <a:ext cx="7169150" cy="4509135"/>
          </a:xfrm>
          <a:prstGeom prst="rect">
            <a:avLst/>
          </a:prstGeom>
          <a:noFill/>
        </p:spPr>
        <p:txBody>
          <a:bodyPr wrap="square" rtlCol="0">
            <a:noAutofit/>
          </a:bodyPr>
          <a:p>
            <a:endParaRPr lang="en-US"/>
          </a:p>
        </p:txBody>
      </p:sp>
      <p:pic>
        <p:nvPicPr>
          <p:cNvPr id="7" name="Picture 7" descr="sentiment_distribution"/>
          <p:cNvPicPr>
            <a:picLocks noChangeAspect="1"/>
          </p:cNvPicPr>
          <p:nvPr/>
        </p:nvPicPr>
        <p:blipFill>
          <a:blip r:embed="rId1"/>
          <a:stretch>
            <a:fillRect/>
          </a:stretch>
        </p:blipFill>
        <p:spPr>
          <a:xfrm>
            <a:off x="894715" y="1541145"/>
            <a:ext cx="5273040" cy="39547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Conclusion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825625"/>
            <a:ext cx="10515600" cy="2732405"/>
          </a:xfrm>
        </p:spPr>
        <p:txBody>
          <a:bodyPr/>
          <a:p>
            <a:pPr marL="0" indent="0">
              <a:buNone/>
            </a:pPr>
            <a:r>
              <a:rPr lang="en-US" altLang="en-US" sz="2400">
                <a:latin typeface="Times New Roman" panose="02020603050405020304" charset="0"/>
                <a:cs typeface="Times New Roman" panose="02020603050405020304" charset="0"/>
              </a:rPr>
              <a:t>The Amazon Sentiment Analysis project uses NLP and Machine Learning to classify customer reviews as positive, neutral, or negative. By preprocessing text, applying TF-IDF feature extraction, and training a Logistic Regression model, it predicts review sentiment with good accuracy, especially for positive reviews. While neutral and negative predictions are less accurate, the project provides valuable insights for businesses and demonstrates practical applications of sentiment analysis, with potential for improvements like deep learning or real-time monitoring.</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Reference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r>
              <a:rPr lang="en-US" altLang="en-US" sz="2400">
                <a:latin typeface="Times New Roman" panose="02020603050405020304" charset="0"/>
                <a:cs typeface="Times New Roman" panose="02020603050405020304" charset="0"/>
              </a:rPr>
              <a:t>Amazon Customer Reviews Dataset: https://registry.opendata.aws/amazon-reviews/</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Pang, B., &amp; Lee, L. (2008). Opinion Mining and Sentiment Analysis. Foundations and Trends in Information Retrieval, 2(1–2), 1–135.</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Zhang, L., Wang, S., &amp; Liu, B. (2018). Deep Learning for Sentiment Analysis: A Survey. Wiley Interdisciplinary Reviews: Data Mining and Knowledge Discovery, 8(4), e1253.</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TABLE_ENDDRAG_ORIGIN_RECT" val="922*497"/>
  <p:tag name="TABLE_ENDDRAG_RECT" val="16*19*922*4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5576</Words>
  <Application>WPS Presentation</Application>
  <PresentationFormat>Widescreen</PresentationFormat>
  <Paragraphs>139</Paragraphs>
  <Slides>11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Arial Unicode MS</vt:lpstr>
      <vt:lpstr>Calibri Light</vt:lpstr>
      <vt:lpstr>Calibri</vt:lpstr>
      <vt:lpstr>Microsoft YaHei</vt:lpstr>
      <vt:lpstr>Times New Roman</vt:lpstr>
      <vt:lpstr>Arial</vt:lpstr>
      <vt:lpstr>Calibri</vt:lpstr>
      <vt:lpstr>Times New Roman</vt:lpstr>
      <vt:lpstr>Bahnschrift Light Condensed</vt:lpstr>
      <vt:lpstr>Eras Demi ITC</vt:lpstr>
      <vt:lpstr>Office Theme</vt:lpstr>
      <vt:lpstr>Mini Project (CS302A5) Career Navigation Using Five Factor Model (FFM)</vt:lpstr>
      <vt:lpstr>PowerPoint 演示文稿</vt:lpstr>
      <vt:lpstr>PowerPoint 演示文稿</vt:lpstr>
      <vt:lpstr>PowerPoint 演示文稿</vt:lpstr>
      <vt:lpstr>PowerPoint 演示文稿</vt:lpstr>
      <vt:lpstr>Design and Methodology</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Training II Amazon Sentiment Analysis</dc:title>
  <dc:creator>Jyotirmoy</dc:creator>
  <cp:lastModifiedBy>Jyotirmoy Das</cp:lastModifiedBy>
  <cp:revision>1</cp:revision>
  <dcterms:created xsi:type="dcterms:W3CDTF">2025-09-19T23:56:37Z</dcterms:created>
  <dcterms:modified xsi:type="dcterms:W3CDTF">2025-09-19T23:56:37Z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7B2486B66BCC4B7EA8DC54799C75D6AC_11</vt:lpwstr>
  </property>
  <property fmtid="{D5CDD505-2E9C-101B-9397-08002B2CF9AE}" pid="3" name="KSOProductBuildVer">
    <vt:lpwstr>1033-12.2.0.21931</vt:lpwstr>
  </property>
</Properties>
</file>